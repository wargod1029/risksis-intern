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09728" cy="34747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AMD FPGA Workflow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BFFF"/>
                </a:solidFill>
                <a:latin typeface="Calibri"/>
              </a:defRPr>
            </a:pPr>
            <a:r>
              <a:t>AI Model Deployment on FPGA / SoC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46120"/>
            <a:ext cx="2743200" cy="54864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Vitis AI  •  Vitis HLS  •  Vivado  •  Vitis  —  The AMD FPGA AI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AMD FPGA AI Ecosystem — Four Core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Target hardware: Zynq MPSoC / Zynq UltraScale+ / Versal ACAP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2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606040" cy="3474720"/>
          </a:xfrm>
          <a:prstGeom prst="rect">
            <a:avLst/>
          </a:prstGeom>
          <a:solidFill>
            <a:srgbClr val="1E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606040" cy="6400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1B2F"/>
                </a:solidFill>
                <a:latin typeface="Calibri"/>
              </a:defRPr>
            </a:pPr>
            <a:r>
              <a:t>🧠  Vitis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2331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AI-model quantization,</a:t>
            </a:r>
            <a:br/>
            <a:r>
              <a:t>compilation, and runtime</a:t>
            </a:r>
            <a:br/>
            <a:r>
              <a:t>(AI-specific pipeline)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554480"/>
            <a:ext cx="2606040" cy="3474720"/>
          </a:xfrm>
          <a:prstGeom prst="rect">
            <a:avLst/>
          </a:prstGeom>
          <a:solidFill>
            <a:srgbClr val="1E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554480"/>
            <a:ext cx="2606040" cy="64008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60020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1B2F"/>
                </a:solidFill>
                <a:latin typeface="Calibri"/>
              </a:defRPr>
            </a:pPr>
            <a:r>
              <a:t>⚙️  Vitis HLS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77440"/>
            <a:ext cx="2331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High-Level Synthesis</a:t>
            </a:r>
            <a:br/>
            <a:r>
              <a:t>C/C++ → RTL for custom</a:t>
            </a:r>
            <a:br/>
            <a:r>
              <a:t>operators DPU cannot handle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1554480"/>
            <a:ext cx="2606040" cy="3474720"/>
          </a:xfrm>
          <a:prstGeom prst="rect">
            <a:avLst/>
          </a:prstGeom>
          <a:solidFill>
            <a:srgbClr val="1E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1554480"/>
            <a:ext cx="2606040" cy="6400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160020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1B2F"/>
                </a:solidFill>
                <a:latin typeface="Calibri"/>
              </a:defRPr>
            </a:pPr>
            <a:r>
              <a:t>🔧  Vivado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19" y="2377440"/>
            <a:ext cx="2331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Traditional FPGA design:</a:t>
            </a:r>
            <a:br/>
            <a:r>
              <a:t>RTL synthesis, place-and-route,</a:t>
            </a:r>
            <a:br/>
            <a:r>
              <a:t>IP integration, bitstream gen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19" y="1554480"/>
            <a:ext cx="2606040" cy="3474720"/>
          </a:xfrm>
          <a:prstGeom prst="rect">
            <a:avLst/>
          </a:prstGeom>
          <a:solidFill>
            <a:srgbClr val="1E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19" y="1554480"/>
            <a:ext cx="2606040" cy="64008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59" y="160020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1B2F"/>
                </a:solidFill>
                <a:latin typeface="Calibri"/>
              </a:defRPr>
            </a:pPr>
            <a:r>
              <a:t>💻  Vitis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79" y="2377440"/>
            <a:ext cx="2331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Unified software platform:</a:t>
            </a:r>
            <a:br/>
            <a:r>
              <a:t>host app, PS–PL linking,</a:t>
            </a:r>
            <a:br/>
            <a:r>
              <a:t>platform creation, debug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303520"/>
            <a:ext cx="10515600" cy="64008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949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96"/>
                </a:solidFill>
                <a:latin typeface="Calibri"/>
              </a:defRPr>
            </a:pPr>
            <a:r>
              <a:t>💡  Zynq MPSoC / Versal ACAP combine ARM Processing System (PS) + FPGA Programmable Logic (PL)  — DPU sits in PL while Linux + VART run on 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Vitis AI Workflow — 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From trained model to running DPU on FPGA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3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2011680" cy="10058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Calibri"/>
              </a:defRPr>
            </a:pPr>
            <a:r>
              <a:t>①  Export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PyTorch /</a:t>
            </a:r>
            <a:br/>
            <a:r>
              <a:t>TensorFlow</a:t>
            </a:r>
            <a:br/>
            <a:r>
              <a:t>→ ONNX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1828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F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645920"/>
            <a:ext cx="2011680" cy="10058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691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Calibri"/>
              </a:defRPr>
            </a:pPr>
            <a:r>
              <a:t>②  Quantize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011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Vitis AI</a:t>
            </a:r>
            <a:br/>
            <a:r>
              <a:t>Quantizer</a:t>
            </a:r>
            <a:br/>
            <a:r>
              <a:t>float32 → INT8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1828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F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645920"/>
            <a:ext cx="2011680" cy="100584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691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Calibri"/>
              </a:defRPr>
            </a:pPr>
            <a:r>
              <a:t>③  Compile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011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Vitis AI</a:t>
            </a:r>
            <a:br/>
            <a:r>
              <a:t>Compiler</a:t>
            </a:r>
            <a:br/>
            <a:r>
              <a:t>→ .xmodel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1828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F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59" y="1645920"/>
            <a:ext cx="2011680" cy="10058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1691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Calibri"/>
              </a:defRPr>
            </a:pPr>
            <a:r>
              <a:t>④  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011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Vivado + Vitis</a:t>
            </a:r>
            <a:br/>
            <a:r>
              <a:t>DPU bitstream</a:t>
            </a:r>
            <a:br/>
            <a:r>
              <a:t>+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7" y="1828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F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1645920"/>
            <a:ext cx="2011680" cy="100584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1691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Calibri"/>
              </a:defRPr>
            </a:pPr>
            <a:r>
              <a:t>⑤  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011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VART / Vitis AI</a:t>
            </a:r>
            <a:br/>
            <a:r>
              <a:t>Library</a:t>
            </a:r>
            <a:br/>
            <a:r>
              <a:t>Host App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108960"/>
            <a:ext cx="10515600" cy="256032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246120"/>
            <a:ext cx="98755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onsolas"/>
              </a:defRPr>
            </a:pPr>
            <a:r>
              <a:t>PyTorch / TensorFlow (float32)</a:t>
            </a:r>
            <a:br/>
            <a:r>
              <a:t>        │</a:t>
            </a:r>
            <a:br/>
            <a:r>
              <a:t>        ▼</a:t>
            </a:r>
            <a:br/>
            <a:r>
              <a:t>   ①  Export to ONNX (or float model)</a:t>
            </a:r>
            <a:br/>
            <a:r>
              <a:t>        │</a:t>
            </a:r>
            <a:br/>
            <a:r>
              <a:t>        ▼</a:t>
            </a:r>
            <a:br/>
            <a:r>
              <a:t>   ②  Vitis AI Quantizer   →  INT8 model</a:t>
            </a:r>
            <a:br/>
            <a:r>
              <a:t>        │</a:t>
            </a:r>
            <a:br/>
            <a:r>
              <a:t>        ▼</a:t>
            </a:r>
            <a:br/>
            <a:r>
              <a:t>   ③  Vitis AI Compiler    →  .xmodel file</a:t>
            </a:r>
            <a:br/>
            <a:r>
              <a:t>        │</a:t>
            </a:r>
            <a:br/>
            <a:r>
              <a:t>        ▼</a:t>
            </a:r>
            <a:br/>
            <a:r>
              <a:t>   ④  Vivado + Vitis       →  DPU bitstream + platform</a:t>
            </a:r>
            <a:br/>
            <a:r>
              <a:t>        │</a:t>
            </a:r>
            <a:br/>
            <a:r>
              <a:t>        ▼</a:t>
            </a:r>
            <a:br/>
            <a:r>
              <a:t>   ⑤  VART / Vitis AI Library  →  host application (C++ / Python)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Step 1–2: Train, Export &amp; Quantization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From float32 model to INT8 deployment-ready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4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029200" cy="5029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1B2F"/>
                </a:solidFill>
                <a:latin typeface="Calibri"/>
              </a:defRPr>
            </a:pPr>
            <a:r>
              <a:t>Step 1 — Train &amp; Export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Train model in PyTorch or TensorFlow (float32)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Export to ONNX (Open Neural Network Exchange)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Or pass float model directly if framework natively supported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Vitis AI accepts ONNX + native TF/PyTorch formats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029200" cy="5029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904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1B2F"/>
                </a:solidFill>
                <a:latin typeface="Calibri"/>
              </a:defRPr>
            </a:pPr>
            <a:r>
              <a:t>Step 2 — Quantization (Vitis AI Quantizer)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Convert weights &amp; activations: float32 → INT8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Post-Training Quantization (PTQ) with small calibration dataset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100–1000 unlabeled samples → analyse activation distributions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If accuracy loss unacceptable: Quantization-Aware Training (QAT)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QAT tools: Brevitas (PyTorch) / QKeras / TF Model Optimization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Fine-tune model with simulated quantization during training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029200"/>
            <a:ext cx="10515600" cy="64008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1206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96"/>
                </a:solidFill>
                <a:latin typeface="Calibri"/>
              </a:defRPr>
            </a:pPr>
            <a:r>
              <a:t>🔑  INT8 quantization reduces model size ~4× and enables efficient DPU execution with minimal accuracy drop for most CNN architectures.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Step 3 — Vitis AI Compiler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Mapping the quantized model onto the DPU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5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Feed quantized INT8 model into Vitis AI Compiler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Compiler maps model graph onto target DPU architecture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DPU configuration specified via arch.json file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Performs operator fusion optimizations: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→ BatchNorm folded into Convolution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→ Activation layers merged with preceding ops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Data-layout transformations for efficient DPU memory access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Instruction scheduling across DPU cores (multi-core support)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Output: .xmodel file — compiled instruction stream for DPU runtime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463040"/>
            <a:ext cx="3840480" cy="2926080"/>
          </a:xfrm>
          <a:prstGeom prst="rect">
            <a:avLst/>
          </a:prstGeom>
          <a:solidFill>
            <a:srgbClr val="1E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FFF"/>
                </a:solidFill>
                <a:latin typeface="Calibri"/>
              </a:defRPr>
            </a:pPr>
            <a:r>
              <a:t>📦  Compiler Input / Output</a:t>
            </a:r>
            <a:br/>
            <a:br/>
            <a:r>
              <a:t>INPUT:</a:t>
            </a:r>
            <a:br/>
            <a:r>
              <a:t>  • INT8 model (quantized)</a:t>
            </a:r>
            <a:br/>
            <a:r>
              <a:t>  • arch.json (DPU config)</a:t>
            </a:r>
            <a:br/>
            <a:br/>
            <a:r>
              <a:t>OUTPUT:</a:t>
            </a:r>
            <a:br/>
            <a:r>
              <a:t>  • .xmodel file</a:t>
            </a:r>
            <a:br/>
            <a:br/>
            <a:r>
              <a:t>The .xmodel contains:</a:t>
            </a:r>
            <a:br/>
            <a:r>
              <a:t>  • DPU instructions</a:t>
            </a:r>
            <a:br/>
            <a:r>
              <a:t>  • Weight data (INT8)</a:t>
            </a:r>
            <a:br/>
            <a:r>
              <a:t>  • Graph execution plan</a:t>
            </a:r>
            <a:br/>
            <a:r>
              <a:t>  • Multi-core scheduling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029200"/>
            <a:ext cx="10515600" cy="64008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206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96"/>
                </a:solidFill>
                <a:latin typeface="Calibri"/>
              </a:defRPr>
            </a:pPr>
            <a:r>
              <a:t>⚡  For most standard CNNs (ResNet, YOLO, MobileNet, VGG, etc.) the DPU handles all operators directly — no custom HLS accelerators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Step 4 — Hardware Platform (Vivado + Vitis)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Creating the FPGA bitstream with the DPU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6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21208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1B2F"/>
                </a:solidFill>
                <a:latin typeface="Calibri"/>
              </a:defRPr>
            </a:pPr>
            <a:r>
              <a:t>🔧  Vivado — FPGA Hardware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Integrate DPU IP core into block design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Configure DPU: #cores, BRAM/URAM allocation, conv types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Add supporting IP: clocking, resets, AXI interconnects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Add sensor interfaces: MIPI/CSI camera receivers, etc.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Run synthesis → implementation (place-and-route)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Generate bitstream (.bit) + hardware hand-off (.xsa)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813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1B2F"/>
                </a:solidFill>
                <a:latin typeface="Calibri"/>
              </a:defRPr>
            </a:pPr>
            <a:r>
              <a:t>💻  Vitis — Platform Creation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Import .xsa from Vivado → create platform project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Packages hardware design with software stack: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FSBL (First Stage Boot Loader)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PMU firmware (Platform Management Unit)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→ Linux kernel + device tree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Enables host application ↔ DPU communication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Unified environment for system-level debug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1206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96"/>
                </a:solidFill>
                <a:latin typeface="Calibri"/>
              </a:defRPr>
            </a:pPr>
            <a:r>
              <a:t>⚙️  Vitis HLS (optional / advanced): For custom operators the DPU cannot natively support — write accelerator in C/C++, synthesize to RTL via Vitis HLS, integrate IP block alongside DPU in Vivado. Most standard CNNs do NOT need this.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Step 5 — Deployment &amp; Host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Flash bitstream + write host app with VART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7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FF"/>
                </a:solidFill>
                <a:latin typeface="Calibri"/>
              </a:defRPr>
            </a:pPr>
            <a:r>
              <a:t>Flashing the Bitstream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8308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Vivado Hardware Manager (JTAG/USB)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Development / debugging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SD card / eMMC boot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Standalone embedded (Zynq MPSoC, Kria)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QSPI flash (program_flash)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Production, non-volatile boot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Ethernet / PCIe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Data-centre accelerator (Alveo)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3337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FF"/>
                </a:solidFill>
                <a:latin typeface="Calibri"/>
              </a:defRPr>
            </a:pPr>
            <a:r>
              <a:t>Writing the Host Application — Vitis AI Runtime (VART)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C++ or Python API to load .xmodel and run inference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Submit inference jobs to DPU asynchronously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Vitis AI Library: higher-level wrappers with pre-built pipelines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Pre-processing: resize, normalize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Post-processing: NMS (object detection), softmax (classification)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Typical loop: capture → pre-process → DPU inference → post-process → 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3337560"/>
            <a:ext cx="4846320" cy="256032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342900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┌──────────────────────────────────────┐</a:t>
            </a:r>
            <a:br/>
            <a:r>
              <a:t>│  Processing System (ARM / Linux)     │</a:t>
            </a:r>
            <a:br/>
            <a:r>
              <a:t>│  ┌────────────────────────────────┐  │</a:t>
            </a:r>
            <a:br/>
            <a:r>
              <a:t>│  │  Host App (C++ / Python)       │  │</a:t>
            </a:r>
            <a:br/>
            <a:r>
              <a:t>│  │  VART / Vitis AI Library       │  │</a:t>
            </a:r>
            <a:br/>
            <a:r>
              <a:t>│  └───────────┬────────────────────┘  │</a:t>
            </a:r>
            <a:br/>
            <a:r>
              <a:t>│              │ AXI bus                │</a:t>
            </a:r>
            <a:br/>
            <a:r>
              <a:t>│  ┌───────────▼────────────────────┐  │</a:t>
            </a:r>
            <a:br/>
            <a:r>
              <a:t>│  │  Programmable Logic (FPGA)     │  │</a:t>
            </a:r>
            <a:br/>
            <a:r>
              <a:t>│  │  ┌──────┐  ┌──────┐  ┌──────┐ │  │</a:t>
            </a:r>
            <a:br/>
            <a:r>
              <a:t>│  │  │ DPU  │  │ MIPI │  │Custom│ │  │</a:t>
            </a:r>
            <a:br/>
            <a:r>
              <a:t>│  │  │ Core │  │ CSI  │  │ HLS  │ │  │</a:t>
            </a:r>
            <a:br/>
            <a:r>
              <a:t>│  │  └──────┘  └──────┘  └──────┘ │  │</a:t>
            </a:r>
            <a:br/>
            <a:r>
              <a:t>│  └────────────────────────────────┘  │</a:t>
            </a:r>
            <a:br/>
            <a:r>
              <a:t>└──────────────────────────────────────┘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Tool Summary — 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Complete tool chain from training to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8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63040"/>
          <a:ext cx="111556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560320"/>
                <a:gridCol w="347472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PyTorch / TensorFlow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float32 model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Export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torch.onnx / tf2onnx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float32 model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ONNX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Quantize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Vitis AI Quantizer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float32 model + calibration data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INT8 model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Compile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Vitis AI Compiler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INT8 model + arch.json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.xmodel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Vivado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DPU IP + block design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bitstream (.bit) + .xsa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Vitis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.xsa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platform (boot, device tree)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Program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Vivado HW Manager / SD boot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bitstream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running DPU on FPGA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Host App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VART / Vitis AI Library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.xmodel + sensor data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inference results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4754880"/>
            <a:ext cx="10515600" cy="64008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96"/>
                </a:solidFill>
                <a:latin typeface="Calibri"/>
              </a:defRPr>
            </a:pPr>
            <a:r>
              <a:t>🐳  Environment: Vitis AI tools ship as Docker containers (CPU &amp; GPU variants).  Vivado &amp; Vitis are native Linux/Windows installs.  DPU IP core is included with Vitis 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External Resources &amp; Learning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Key references for FPGA-based AI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9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64008" cy="6400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FF"/>
                </a:solidFill>
                <a:latin typeface="Calibri"/>
              </a:defRPr>
            </a:pPr>
            <a:r>
              <a:t>🎓  Advanced FPGA Course: Verilog Based Robotics &amp; Signal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6420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YouTube playlist — comprehensive FPGA course covering Verilog for robotics and DSP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96"/>
                </a:solidFill>
                <a:latin typeface="Calibri"/>
              </a:defRPr>
            </a:pPr>
            <a:r>
              <a:t>🔗  https://www.youtube.com/playlist?list=PLfPwG72dAOx6gkqrrZVdr63EaizecO0Cg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64008" cy="6400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FF"/>
                </a:solidFill>
                <a:latin typeface="Calibri"/>
              </a:defRPr>
            </a:pPr>
            <a:r>
              <a:t>🔬  hls4ml — Machine Learning to FPGA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3288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Translate ML models directly into synthesizable VHDL or Verilog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7063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96"/>
                </a:solidFill>
                <a:latin typeface="Calibri"/>
              </a:defRPr>
            </a:pPr>
            <a:r>
              <a:t>🔗  https://fastmachinelearning.org/hls4ml/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64008" cy="6400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08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FF"/>
                </a:solidFill>
                <a:latin typeface="Calibri"/>
              </a:defRPr>
            </a:pPr>
            <a:r>
              <a:t>🔥  PyTorch AI on FPGA — FINN Workflow Tutorial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015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Step-by-step tutorial for deploying PyTorch models on FPGA using the FINN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3931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96"/>
                </a:solidFill>
                <a:latin typeface="Calibri"/>
              </a:defRPr>
            </a:pPr>
            <a:r>
              <a:t>🔗  https://hugobrh.dev/posts/PY2FPGA/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77639"/>
            <a:ext cx="64008" cy="6400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776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FF"/>
                </a:solidFill>
                <a:latin typeface="Calibri"/>
              </a:defRPr>
            </a:pPr>
            <a:r>
              <a:t>🐍  Python to FPGA — Tutorial Snippets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70247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Practical examples and code snippets for the Python→FPGA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07991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96"/>
                </a:solidFill>
                <a:latin typeface="Calibri"/>
              </a:defRPr>
            </a:pPr>
            <a:r>
              <a:t>🔗  https://github.com/0BAB1/tutorial-snippets/tree/main/8%20Python%20to%20FPGA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64008" cy="6400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46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FF"/>
                </a:solidFill>
                <a:latin typeface="Calibri"/>
              </a:defRPr>
            </a:pPr>
            <a:r>
              <a:t>🤖  Educational Platform for FPGA Accelerated AI in Robotics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389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Open-source platform demonstrating FPGA-accelerated AI for robotics applications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7667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96"/>
                </a:solidFill>
                <a:latin typeface="Calibri"/>
              </a:defRPr>
            </a:pPr>
            <a:r>
              <a:t>🔗  https://github.com/nhma20/FPGA_AI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715000"/>
            <a:ext cx="64008" cy="64008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715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FF"/>
                </a:solidFill>
                <a:latin typeface="Calibri"/>
              </a:defRPr>
            </a:pPr>
            <a:r>
              <a:t>📖  AMD Vitis AI 3.5 — Official Workflow Documentation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00760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Official AMD documentation for the complete model deployment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453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96"/>
                </a:solidFill>
                <a:latin typeface="Calibri"/>
              </a:defRPr>
            </a:pPr>
            <a:r>
              <a:t>🔗  https://xilinx.github.io/Vitis-AI/3.5/html/docs/workflow-model-deployment.html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AI Module Comparison — Edge Platforms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NVIDIA Jetson, Hailo, and x86 edge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10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3520440" cy="3931920"/>
          </a:xfrm>
          <a:prstGeom prst="rect">
            <a:avLst/>
          </a:prstGeom>
          <a:solidFill>
            <a:srgbClr val="1E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3520440" cy="5943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1B2F"/>
                </a:solidFill>
                <a:latin typeface="Calibri"/>
              </a:defRPr>
            </a:pPr>
            <a:r>
              <a:t>NVIDIA Jetson</a:t>
            </a:r>
            <a:br/>
            <a:r>
              <a:t>AGX Orin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3246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Up to 275 TOPS (INT8)</a:t>
            </a:r>
            <a:br/>
            <a:r>
              <a:t>15W – 60W</a:t>
            </a:r>
            <a:br/>
            <a:br/>
            <a:r>
              <a:t>High-end robotics &amp;</a:t>
            </a:r>
            <a:br/>
            <a:r>
              <a:t>autonomous navigation.</a:t>
            </a:r>
            <a:br/>
            <a:r>
              <a:t>Integrates CPU, Ampere</a:t>
            </a:r>
            <a:br/>
            <a:r>
              <a:t>GPU, and DLAs.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3520440" cy="3931920"/>
          </a:xfrm>
          <a:prstGeom prst="rect">
            <a:avLst/>
          </a:prstGeom>
          <a:solidFill>
            <a:srgbClr val="1E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371600"/>
            <a:ext cx="3520440" cy="5943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1B2F"/>
                </a:solidFill>
                <a:latin typeface="Calibri"/>
              </a:defRPr>
            </a:pPr>
            <a:r>
              <a:t>NVIDIA Jetson</a:t>
            </a:r>
            <a:br/>
            <a:r>
              <a:t>Orin Nano (Super)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03120"/>
            <a:ext cx="3246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Up to 67 TOPS (INT8)</a:t>
            </a:r>
            <a:br/>
            <a:r>
              <a:t>7W – 25W</a:t>
            </a:r>
            <a:br/>
            <a:br/>
            <a:r>
              <a:t>Entry-level embedded AI</a:t>
            </a:r>
            <a:br/>
            <a:r>
              <a:t>&amp; smart cameras.</a:t>
            </a:r>
            <a:br/>
            <a:r>
              <a:t>"Super" variant (Dec 2024)</a:t>
            </a:r>
            <a:br/>
            <a:r>
              <a:t>offers significant TOPS</a:t>
            </a:r>
            <a:br/>
            <a:r>
              <a:t>uplift over original.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371600"/>
            <a:ext cx="3520440" cy="3931920"/>
          </a:xfrm>
          <a:prstGeom prst="rect">
            <a:avLst/>
          </a:prstGeom>
          <a:solidFill>
            <a:srgbClr val="1E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3520440" cy="5943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389888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1B2F"/>
                </a:solidFill>
                <a:latin typeface="Calibri"/>
              </a:defRPr>
            </a:pPr>
            <a:r>
              <a:t>Raspberry Pi 5</a:t>
            </a:r>
            <a:br/>
            <a:r>
              <a:t>+ Hailo-8 AI 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03120"/>
            <a:ext cx="3246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~13 to 26 TOPS</a:t>
            </a:r>
            <a:br/>
            <a:r>
              <a:t>10W – 15W</a:t>
            </a:r>
            <a:br/>
            <a:br/>
            <a:r>
              <a:t>Low-power field robots.</a:t>
            </a:r>
            <a:br/>
            <a:r>
              <a:t>Hailo-8L = 13 TOPS</a:t>
            </a:r>
            <a:br/>
            <a:r>
              <a:t>Hailo-8 = 26 TOPS</a:t>
            </a:r>
            <a:br/>
            <a:r>
              <a:t>Separate Hailo accelerator.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AI Module Comparison — Edge Platforms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Intel x86 edge, Axelera, EdgeCortix, SiMa.ai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11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697480" cy="3931920"/>
          </a:xfrm>
          <a:prstGeom prst="rect">
            <a:avLst/>
          </a:prstGeom>
          <a:solidFill>
            <a:srgbClr val="1E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697480" cy="5943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1B2F"/>
                </a:solidFill>
                <a:latin typeface="Calibri"/>
              </a:defRPr>
            </a:pPr>
            <a:r>
              <a:t>ASUS NUC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2514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20–40+ TOPS (NPU+GPU)</a:t>
            </a:r>
            <a:br/>
            <a:r>
              <a:t>28W – 65+W (system)</a:t>
            </a:r>
            <a:br/>
            <a:br/>
            <a:r>
              <a:t>Industrial edge / server.</a:t>
            </a:r>
            <a:br/>
            <a:r>
              <a:t>Full x86 + PCIe.</a:t>
            </a:r>
            <a:br/>
            <a:r>
              <a:t>Meteor Lake NPU ≈ 11 TOPS</a:t>
            </a:r>
            <a:br/>
            <a:r>
              <a:t>Arrow Lake NPU ≈ 13 TOPS</a:t>
            </a:r>
            <a:br/>
            <a:r>
              <a:t>Lunar Lake NPU ≈ 48 TOPS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697480" cy="3931920"/>
          </a:xfrm>
          <a:prstGeom prst="rect">
            <a:avLst/>
          </a:prstGeom>
          <a:solidFill>
            <a:srgbClr val="1E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371600"/>
            <a:ext cx="2697480" cy="59436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38988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1B2F"/>
                </a:solidFill>
                <a:latin typeface="Calibri"/>
              </a:defRPr>
            </a:pPr>
            <a:r>
              <a:t>Axelera AI</a:t>
            </a:r>
            <a:br/>
            <a:r>
              <a:t>Mini PC + M.2 Max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103120"/>
            <a:ext cx="2514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Up to 214 TOPS</a:t>
            </a:r>
            <a:br/>
            <a:r>
              <a:t>20W – 40W</a:t>
            </a:r>
            <a:br/>
            <a:br/>
            <a:r>
              <a:t>In-memory computing (PIM)</a:t>
            </a:r>
            <a:br/>
            <a:r>
              <a:t>+ RISC-V architecture.</a:t>
            </a:r>
            <a:br/>
            <a:r>
              <a:t>Ultra-low latency at high</a:t>
            </a:r>
            <a:br/>
            <a:r>
              <a:t>TOPS. Optimized for</a:t>
            </a:r>
            <a:br/>
            <a:r>
              <a:t>computer vision workloads.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97480" cy="3931920"/>
          </a:xfrm>
          <a:prstGeom prst="rect">
            <a:avLst/>
          </a:prstGeom>
          <a:solidFill>
            <a:srgbClr val="1E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697480" cy="5943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38988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1B2F"/>
                </a:solidFill>
                <a:latin typeface="Calibri"/>
              </a:defRPr>
            </a:pPr>
            <a:r>
              <a:t>EdgeCortix</a:t>
            </a:r>
            <a:br/>
            <a:r>
              <a:t>SAKURA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03120"/>
            <a:ext cx="2514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Up to 60 TOPS</a:t>
            </a:r>
            <a:br/>
            <a:r>
              <a:t>Under 10W</a:t>
            </a:r>
            <a:br/>
            <a:br/>
            <a:r>
              <a:t>FIM (Fabric in Memory)</a:t>
            </a:r>
            <a:br/>
            <a:r>
              <a:t>architecture. Targets</a:t>
            </a:r>
            <a:br/>
            <a:r>
              <a:t>low-power smart city &amp;</a:t>
            </a:r>
            <a:br/>
            <a:r>
              <a:t>vision applications.</a:t>
            </a:r>
            <a:br/>
            <a:r>
              <a:t>Extremely efficient.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371600"/>
            <a:ext cx="2697480" cy="3931920"/>
          </a:xfrm>
          <a:prstGeom prst="rect">
            <a:avLst/>
          </a:prstGeom>
          <a:solidFill>
            <a:srgbClr val="1E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371600"/>
            <a:ext cx="2697480" cy="5943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38988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1B2F"/>
                </a:solidFill>
                <a:latin typeface="Calibri"/>
              </a:defRPr>
            </a:pPr>
            <a:r>
              <a:t>SiMa.ai</a:t>
            </a:r>
            <a:br/>
            <a:r>
              <a:t>MLSoC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103120"/>
            <a:ext cx="2514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Up to 50+ TOPS</a:t>
            </a:r>
            <a:br/>
            <a:r>
              <a:t>~5–10W (board)</a:t>
            </a:r>
            <a:br/>
            <a:br/>
            <a:r>
              <a:t>Purpose-built for edge AI.</a:t>
            </a:r>
            <a:br/>
            <a:r>
              <a:t>Integrated CV/vision pipeline</a:t>
            </a:r>
            <a:br/>
            <a:r>
              <a:t>with software-programmable</a:t>
            </a:r>
            <a:br/>
            <a:r>
              <a:t>NPU. Power varies by</a:t>
            </a:r>
            <a:br/>
            <a:r>
              <a:t>workload.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AI Module Comparison — Full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Side-by-side comparison of all evaluated edge AI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12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521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1828800"/>
                <a:gridCol w="53035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Platform / Device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Peak AI (TOPS)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Power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Use Case &amp; Architecture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NVIDIA Jetson AGX Orin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275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15W – 60W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High-end robotics, autonomous nav. CPU + Ampere GPU + DLA.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NVIDIA Jetson Orin Nano (Super)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67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7W – 25W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Entry-level embedded AI &amp; smart cameras. Super variant (Dec 2024) uplift.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Raspberry Pi 5 + Hailo-8 AI HAT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 – 26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10W – 15W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Low-power field robots. Hailo-8L (13 TOPS) / Hailo-8 (26 TOPS) accelerator.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ASUS NUC 14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 – 40+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28W – 65+W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Industrial edge / server. Full x86 + PCIe. Gen-dependent NPU performance.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Axelera AI Mini PC + M.2 Max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214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20W – 40W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In-memory computing (PIM) + RISC-V. Ultra-low latency at high TOPS.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EdgeCortix SAKURA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60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Under 10W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FIM architecture. Low-power smart city &amp; vision.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SiMa.ai MLSoC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50+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~5 – 10W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Purpose-built edge AI. Integrated CV pipeline + programmable NPU.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Key Takeaways — AMD FPGA AI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Summary of the Vitis AI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13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73152" cy="8229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FF"/>
                </a:solidFill>
                <a:latin typeface="Calibri"/>
              </a:defRPr>
            </a:pPr>
            <a:r>
              <a:t>🧠  Complete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55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AMD provides a full end-to-end tool chain: PyTorch/TF → ONNX → Quantize → Compile → Hardware → Deploy. Each step is handled by a dedicated tool in the ecosystem.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73152" cy="8229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Calibri"/>
              </a:defRPr>
            </a:pPr>
            <a:r>
              <a:t>⚡  DPU Acceleration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0720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The Deep Learning Processing Unit (DPU) is a hardened IP core optimized for CNN inference. INT8 quantization + operator fusion + multi-core scheduling deliver efficient FPGA acceleration.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73152" cy="8229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74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0"/>
                </a:solidFill>
                <a:latin typeface="Calibri"/>
              </a:defRPr>
            </a:pPr>
            <a:r>
              <a:t>🔧  Hardware Flexibility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587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Vivado + Vitis HLS allow custom hardware accelerators for non-standard operators. The FPGA can be tailored to the exact model architecture — not limited to fixed silicon.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26279"/>
            <a:ext cx="73152" cy="8229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2627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FF"/>
                </a:solidFill>
                <a:latin typeface="Calibri"/>
              </a:defRPr>
            </a:pPr>
            <a:r>
              <a:t>🐳  Docker-Based Tooling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10327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Vitis AI tools run in Docker containers (CPU/GPU variants) for easy setup. Vivado &amp; Vitis are native installs for synthesis and platform creation.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577840"/>
            <a:ext cx="73152" cy="8229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Calibri"/>
              </a:defRPr>
            </a:pPr>
            <a:r>
              <a:t>🌐  Rich Ecosystem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6188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Multiple external resources: hls4ml, FINN, educational FPGA-AI platforms, and official AMD documentation. Active community and growing adoption in edge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