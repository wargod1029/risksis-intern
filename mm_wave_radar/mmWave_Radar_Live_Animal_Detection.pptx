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09728" cy="34747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mmWave Radar for Live Animal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BFFF"/>
                </a:solidFill>
                <a:latin typeface="Calibri"/>
              </a:defRPr>
            </a:pPr>
            <a:r>
              <a:t>in Passenger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2743200" cy="54864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Enhancing Biosecurity at Clearance Checkpoints with Advanced Radar Sensing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Illegal animal importation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Government seeking advanced technology to enhance passenger screening at clearance halls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Assist frontline officers in identifying and intercepting illegal animal importation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Animals concealed within baggage, backpacks, or luggage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Quick and accurate detection of live animals required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Focus on warm-blooded animals — cold-blooded detection highly preferred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💡  Goal: A system that detects live animals through baggage non-invasively, with high throughput and no ionizing radiation.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Why mmWave Radar?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Core technology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Electromagnetic waves penetrate non-metallic materials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Clothing, backpacks, plastic containers, cardboard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MIMO radar creates high-resolution 3D images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Key advantage: 3D Doppler Imaging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Detects micro-movements even when animal is still: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Breathing (~0.1–3 Hz, 0.1–1 mm displacement)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Heartbeats (~1–3 Hz, ~0.1–0.5 mm)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→ Involuntary twitches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4846320" cy="22860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FFF"/>
                </a:solidFill>
                <a:latin typeface="Calibri"/>
              </a:defRPr>
            </a:pPr>
            <a:r>
              <a:t>🔑  Core Insight</a:t>
            </a:r>
            <a:br/>
            <a:br/>
            <a:r>
              <a:t>Even a perfectly still animal cannot hide — breathing and heartbeat produce detectable phase modulation in the radar return. This is a physiological inevitability for all living vertebrates.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4114800"/>
          <a:ext cx="10241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201168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Detects Life?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Penetrates Bags?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3D Imaging?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Ionizing Radiation?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X-ray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(2D only)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Thermal IR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Indirectly (heat)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(blocked)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mmWave Radar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(Doppler)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(MIMO)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Inspection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(opening)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Radar Sensor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Four sensor options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1B2F"/>
                </a:solidFill>
                <a:latin typeface="Calibri"/>
              </a:defRPr>
            </a:pPr>
            <a:r>
              <a:t>TI IWR6843ISK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60 GHz | 3TX/4RX</a:t>
            </a:r>
            <a:br/>
            <a:r>
              <a:t>12 virtual antennas</a:t>
            </a:r>
            <a:br/>
            <a:r>
              <a:t>Vital sign demo built-in</a:t>
            </a:r>
            <a:br/>
            <a:r>
              <a:t>~$299–$799 USD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898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1B2F"/>
                </a:solidFill>
                <a:latin typeface="Calibri"/>
              </a:defRPr>
            </a:pPr>
            <a:r>
              <a:t>TI IWR1843BOOST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77 GHz | 3TX/4RX</a:t>
            </a:r>
            <a:br/>
            <a:r>
              <a:t>12 virtual antennas</a:t>
            </a:r>
            <a:br/>
            <a:r>
              <a:t>On-chip DSP + MCU</a:t>
            </a:r>
            <a:br/>
            <a:r>
              <a:t>~$349–$849 USD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1B2F"/>
                </a:solidFill>
                <a:latin typeface="Calibri"/>
              </a:defRPr>
            </a:pPr>
            <a:r>
              <a:t>TI IWRL6432BOOST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60 GHz | 2TX/3RX</a:t>
            </a:r>
            <a:br/>
            <a:r>
              <a:t>6 virtual antennas</a:t>
            </a:r>
            <a:br/>
            <a:r>
              <a:t>Low power, compact</a:t>
            </a:r>
            <a:br/>
            <a:r>
              <a:t>~$199–$699 USD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371600"/>
            <a:ext cx="256032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898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1B2F"/>
                </a:solidFill>
                <a:latin typeface="Calibri"/>
              </a:defRPr>
            </a:pPr>
            <a:r>
              <a:t>Infineon BGT60TR13C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60 GHz | 1TX/3RX</a:t>
            </a:r>
            <a:br/>
            <a:r>
              <a:t>3 virtual channels</a:t>
            </a:r>
            <a:br/>
            <a:r>
              <a:t>5.5 GHz bandwidth</a:t>
            </a:r>
            <a:br/>
            <a:r>
              <a:t>~€250 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TI IWR6843ISK — 60 GHz mmWave Radar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Recommended starting point  |  ti.com/tool/IWR6843ISK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 Band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60–64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TX / RX Channels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Transmitters, 4 Receivers (12 virtual antennas)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 GHz  →  range resolution ~3.75 cm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Range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50 m (people); 0.3–2 m for vital signs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Velocity Resolution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~0.1 mm/s Doppler micro-motion sensitivity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of View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±60° Azimuth, ±60° Elevation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Interface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USB (via DCA1000EVM) or direct SPI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SDK / Processing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 mmWave SDK, mmWave Studio, MATLAB/Python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Vital Sign Demo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Built-in: breathing rate &amp; heartbeat rate detection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3D Imaging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MIMO virtual array + 3D point cloud + Doppler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63.5 mm × 44.5 mm (standalone PCB)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~$299 USD (ISK) / ~$799 USD (with DCA1000EVM)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5216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2531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⭐  Most mature mmWave platform — TI provides ready-to-run lab demos for breathing/heartbeat detection. DCA1000EVM required for raw ADC data capture and custom 3D/Doppler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TI IWR1843BOOST — 77 GHz Industrial Radar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Higher frequency, on-chip processing  |  ti.com/tool/IWR1843BOOST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5156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 Band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76–81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TX / RX Channels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TX, 4 RX (12 virtual antennas)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 GHz → range resolution ~3.75 cm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Range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100 m; 0.3–2 m for micro-motion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Velocity Resolution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Sub-mm/s Doppler sensitivity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of View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±60° Azimuth, ±60° Elevation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On-Chip DSP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 C674x DSP for real-time FFT &amp; CFAR processing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On-Chip MCU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 Cortex-R4F for tracking &amp; classification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3D Imaging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MIMO virtual array, 3D point cloud generation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79 mm × 63.5 mm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~$349 USD (BOOST) / ~$849 USD (with DCA1000EVM)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852160"/>
            <a:ext cx="10515600" cy="64008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2531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🔧  Higher frequency (77 GHz) gives slightly better resolution + smaller antennas. On-chip DSP + MCU enables real-time embedded processing at the checkpoint — no external host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TI IWRL6432BOOST — 57–64 GHz Low-Power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Compact &amp; efficient  |  ti.com/tool/IWRL6432BOOST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 Band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57–64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TX / RX Channels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 TX, 3 RX (6 virtual antennas)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Range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20 m; 0.3–2 m for micro-motion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FOV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±60° Azimuth, ±50° Elevation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~2.5 mW deep sleep / ~1.5 W active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 mm × 25 mm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~$199 USD (BOOST only)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846320"/>
            <a:ext cx="5029200" cy="13716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✅  Advantages</a:t>
            </a:r>
            <a:br/>
            <a:r>
              <a:t>• Lowest power consumption</a:t>
            </a:r>
            <a:br/>
            <a:r>
              <a:t>• Smallest form factor</a:t>
            </a:r>
            <a:br/>
            <a:r>
              <a:t>• Best for battery-powered /</a:t>
            </a:r>
            <a:br/>
            <a:r>
              <a:t>   space-constrained deployments</a:t>
            </a:r>
            <a:br/>
            <a:r>
              <a:t>• Lowest cost entry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846320"/>
            <a:ext cx="5029200" cy="137160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9377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  <a:latin typeface="Calibri"/>
              </a:defRPr>
            </a:pPr>
            <a:r>
              <a:t>⚠️  Limitations</a:t>
            </a:r>
            <a:br/>
            <a:r>
              <a:t>• 2TX/3RX — only 6 virtual channels</a:t>
            </a:r>
            <a:br/>
            <a:r>
              <a:t>• Reduced 3D angular resolution vs.</a:t>
            </a:r>
            <a:br/>
            <a:r>
              <a:t>   IWR6843/IWR1843 (12 virtual channels)</a:t>
            </a:r>
            <a:br/>
            <a:r>
              <a:t>• May not match 3D imaging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Infineon DEMO BGT60TR13C — 60 GHz Radar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Compact sensor, high bandwidth  |  infineon.com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 Band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57–63 GHz (V-band)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TX / RX Channels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TX, 3 RX (3 virtual channels)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5.5 GHz → range resolution ~2.7 cm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Range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15 m; 0.2–1 m for vital signs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FOV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±45° Azimuth, ±45° Elevation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SDK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Infineon RDK, Radar Fusion GUI, Python SDK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Vital Sign Demo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dedicated vital sensing reference app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 Size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 mm × 25 mm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~€250 EUR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303520"/>
            <a:ext cx="5029200" cy="118872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  <a:latin typeface="Calibri"/>
              </a:defRPr>
            </a:pPr>
            <a:r>
              <a:t>✅  Advantages</a:t>
            </a:r>
            <a:br/>
            <a:r>
              <a:t>• Highest bandwidth (5.5 GHz)</a:t>
            </a:r>
            <a:br/>
            <a:r>
              <a:t>   → finest range resolution (~2.7 cm)</a:t>
            </a:r>
            <a:br/>
            <a:r>
              <a:t>• Ultra-compact sensor (25×25 mm)</a:t>
            </a:r>
            <a:br/>
            <a:r>
              <a:t>• Can cascade multiple for custom MIMO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5303520"/>
            <a:ext cx="5029200" cy="118872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5555"/>
                </a:solidFill>
                <a:latin typeface="Calibri"/>
              </a:defRPr>
            </a:pPr>
            <a:r>
              <a:t>⚠️  Limitations</a:t>
            </a:r>
            <a:br/>
            <a:r>
              <a:t>• Single TX channel</a:t>
            </a:r>
            <a:br/>
            <a:r>
              <a:t>   → no native MIMO imaging</a:t>
            </a:r>
            <a:br/>
            <a:r>
              <a:t>• Best for single-point vital sign</a:t>
            </a:r>
            <a:br/>
            <a:r>
              <a:t>   detection, not full 3D imaging</a:t>
            </a:r>
            <a:br/>
            <a:r>
              <a:t>• Requires multiple synced boards</a:t>
            </a:r>
            <a:br/>
            <a:r>
              <a:t>   for MIMO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Radar Comparison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Side-by-side sensor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704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371600"/>
                <a:gridCol w="1554480"/>
                <a:gridCol w="2011680"/>
                <a:gridCol w="182880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TX/RX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BW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3D Imaging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Vital Sign Demo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(USD)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 IWR6843ISK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3/4 (12 virt.)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(moderate)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$299–$799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 IWR1843BOOST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77 GHz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3/4 (12 virt.)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(moderate)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Via custom DSP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$349–$849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 IWRL6432BOOST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2/3 (6 virt.)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GHz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Via custom DSP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$199–$699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Infineon BGT60TR13C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 GHz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1/3 (3 virt.)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 GHz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(single TX)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~€250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3931920"/>
            <a:ext cx="10515600" cy="164592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96"/>
                </a:solidFill>
                <a:latin typeface="Calibri"/>
              </a:defRPr>
            </a:pPr>
            <a:r>
              <a:t>🏆  Recommendation</a:t>
            </a:r>
            <a:br/>
            <a:br/>
            <a:r>
              <a:t>Start with TI IWR6843ISK — lowest barrier to entry, built-in vital sign demo, mature SDK, and proven 3D MIMO imaging capability at the lowest price point.</a:t>
            </a:r>
            <a:br/>
            <a:r>
              <a:t>For higher-resolution 3D imaging, consider cascading multiple IWR6843 units or IWR1843BOOST.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Detection Mechanism — Warm-Blooded Animals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Birds &amp; Mammals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Strong, rhythmic Doppler signatures from: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Breathing: 0.1–1 mm chest wall displacement, 0.1–3 Hz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Heartbeat: ~0.1–0.5 mm displacement, 1–3 Hz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Body temperature (~37°C) vs. ambient creates dielectric contrast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Enhances radar reflectivity at tissue boundaries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Confidence: HIGH ✅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TI's vital-sign demos prove reliable extraction at 1–2 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range through clothing and non-metallic barriers.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200400" cy="3200400"/>
          </a:xfrm>
          <a:prstGeom prst="rect">
            <a:avLst/>
          </a:prstGeom>
          <a:solidFill>
            <a:srgbClr val="0A3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E696"/>
                </a:solidFill>
                <a:latin typeface="Calibri"/>
              </a:defRPr>
            </a:pPr>
            <a:r>
              <a:t>🫁  Breathing</a:t>
            </a:r>
            <a:br/>
            <a:r>
              <a:t>    0.1–1 mm</a:t>
            </a:r>
            <a:br/>
            <a:r>
              <a:t>    0.1–3 Hz</a:t>
            </a:r>
            <a:br/>
            <a:br/>
            <a:r>
              <a:t>❤️  Heartbeat</a:t>
            </a:r>
            <a:br/>
            <a:r>
              <a:t>    ~0.1–0.5 mm</a:t>
            </a:r>
            <a:br/>
            <a:r>
              <a:t>    1–3 Hz</a:t>
            </a:r>
            <a:br/>
            <a:br/>
            <a:r>
              <a:t>🔥  Body Heat</a:t>
            </a:r>
            <a:br/>
            <a:r>
              <a:t>    Dielectric</a:t>
            </a:r>
            <a:br/>
            <a:r>
              <a:t>    Contrast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Detection Mechanism — Cold-Blooded Animals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Reptiles &amp; Amphibians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Weaker but present respiratory micro-motions: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Periodic throat / body wall movements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Lung ventilation at 0.05–0.5 Hz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Lower body temperature reduces dielectric contrast but: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→ Tissue structures (lungs, organs, skin) still reflect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Confidence: MEDIUM–HIGH ⚠️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Dependent on animal size, activity level, and concealment.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Longer integration (5–15 s) increases SNR significantly.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200400" cy="3200400"/>
          </a:xfrm>
          <a:prstGeom prst="rect">
            <a:avLst/>
          </a:prstGeom>
          <a:solidFill>
            <a:srgbClr val="3D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FFF"/>
                </a:solidFill>
                <a:latin typeface="Calibri"/>
              </a:defRPr>
            </a:pPr>
            <a:r>
              <a:t>🦎  Reptiles</a:t>
            </a:r>
            <a:br/>
            <a:r>
              <a:t>    Throat / body</a:t>
            </a:r>
            <a:br/>
            <a:r>
              <a:t>    movements</a:t>
            </a:r>
            <a:br/>
            <a:r>
              <a:t>    0.05–0.5 Hz</a:t>
            </a:r>
            <a:br/>
            <a:br/>
            <a:r>
              <a:t>🐍  Amphibians</a:t>
            </a:r>
            <a:br/>
            <a:r>
              <a:t>    Lung ventilation</a:t>
            </a:r>
            <a:br/>
            <a:r>
              <a:t>    Periodic motion</a:t>
            </a:r>
            <a:br/>
            <a:br/>
            <a:r>
              <a:t>⏱️  Longer Integration</a:t>
            </a:r>
            <a:br/>
            <a:r>
              <a:t>    5–15 seconds</a:t>
            </a:r>
            <a:br/>
            <a:r>
              <a:t>    → Higher SNR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Key Advantage Over Existing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Doppler = physiological inevitability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Calibri"/>
              </a:defRPr>
            </a:pPr>
            <a:r>
              <a:t>Unlike thermal cameras (which require the animal's body heat to reach the sensor with an unobstructed view) or X-ray (which sees only density), mmWave Doppler detection relies on physical motion — a physiological inevitability for all living vertebrates.</a:t>
            </a:r>
            <a:br/>
            <a:br/>
            <a:r>
              <a:t>Even at rest, breathing and heartbeat produce detectable phase modulation in the radar return.</a:t>
            </a:r>
            <a:br/>
            <a:br/>
            <a:r>
              <a:t>This cannot be masked by the animal — it is involuntary and continuous.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3383280" cy="16459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🌡️  Thermal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1B2F"/>
                </a:solidFill>
                <a:latin typeface="Calibri"/>
              </a:defRPr>
            </a:pPr>
            <a:r>
              <a:t>Blocked by fabric</a:t>
            </a:r>
            <a:br/>
            <a:r>
              <a:t>No 3D imaging</a:t>
            </a:r>
            <a:br/>
            <a:r>
              <a:t>Indirect detection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4846320"/>
            <a:ext cx="3383280" cy="16459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☢️  X-ray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1B2F"/>
                </a:solidFill>
                <a:latin typeface="Calibri"/>
              </a:defRPr>
            </a:pPr>
            <a:r>
              <a:t>Ionizing radiation</a:t>
            </a:r>
            <a:br/>
            <a:r>
              <a:t>2D only — no life detection</a:t>
            </a:r>
            <a:br/>
            <a:r>
              <a:t>Sees density, not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846320"/>
            <a:ext cx="3383280" cy="1645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📡  mmWave Radar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1B2F"/>
                </a:solidFill>
                <a:latin typeface="Calibri"/>
              </a:defRPr>
            </a:pPr>
            <a:r>
              <a:t>Penetrates non-metallic</a:t>
            </a:r>
            <a:br/>
            <a:r>
              <a:t>3D + Doppler detection</a:t>
            </a:r>
            <a:br/>
            <a:r>
              <a:t>Detects life itself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System Architecture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Clearance checkpoint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468880" cy="1463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Bag on</a:t>
            </a:r>
            <a:br/>
            <a:r>
              <a:t>Conveyor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286000"/>
            <a:ext cx="2468880" cy="14630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MIMO mmWave</a:t>
            </a:r>
            <a:br/>
            <a:r>
              <a:t>Radar Array</a:t>
            </a:r>
            <a:br/>
            <a:r>
              <a:t>(e.g. cascaded</a:t>
            </a:r>
            <a:br/>
            <a:r>
              <a:t>IWR6843)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6000"/>
            <a:ext cx="2468880" cy="1463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Real-Time</a:t>
            </a:r>
            <a:br/>
            <a:r>
              <a:t>Processor</a:t>
            </a:r>
            <a:br/>
            <a:r>
              <a:t>• Static 3D</a:t>
            </a:r>
            <a:br/>
            <a:r>
              <a:t>• Doppler</a:t>
            </a:r>
            <a:br/>
            <a:r>
              <a:t>• AI/ML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286000"/>
            <a:ext cx="2468880" cy="1463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1B2F"/>
                </a:solidFill>
                <a:latin typeface="Calibri"/>
              </a:defRPr>
            </a:pPr>
            <a:r>
              <a:t>Operator</a:t>
            </a:r>
            <a:br/>
            <a:r>
              <a:t>Display</a:t>
            </a:r>
            <a:br/>
            <a:r>
              <a:t>🚦 Green/Amber/Red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FF"/>
                </a:solidFill>
                <a:latin typeface="Calibri"/>
              </a:defRPr>
            </a:pPr>
            <a:r>
              <a:t>Signal Processing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2560320" cy="457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1B2F"/>
                </a:solidFill>
                <a:latin typeface="Calibri"/>
              </a:defRPr>
            </a:pPr>
            <a:r>
              <a:t>1.  Static 3D</a:t>
            </a:r>
            <a:br/>
            <a:r>
              <a:t>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FMCW range processing</a:t>
            </a:r>
            <a:br/>
            <a:r>
              <a:t>+ MIMO angle estimation</a:t>
            </a:r>
            <a:br/>
            <a:r>
              <a:t>→ volumetric voxel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663440"/>
            <a:ext cx="2560320" cy="457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1B2F"/>
                </a:solidFill>
                <a:latin typeface="Calibri"/>
              </a:defRPr>
            </a:pPr>
            <a:r>
              <a:t>2.  Doppler Micro-Motion</a:t>
            </a:r>
            <a:br/>
            <a:r>
              <a:t>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12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Coherent phase analysis</a:t>
            </a:r>
            <a:br/>
            <a:r>
              <a:t>Sub-mm displacements</a:t>
            </a:r>
            <a:br/>
            <a:r>
              <a:t>Physiological frequencies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663440"/>
            <a:ext cx="2560320" cy="457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799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1B2F"/>
                </a:solidFill>
                <a:latin typeface="Calibri"/>
              </a:defRPr>
            </a:pPr>
            <a:r>
              <a:t>3.  AI/ML</a:t>
            </a:r>
            <a:br/>
            <a:r>
              <a:t>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5212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Deep classifier on</a:t>
            </a:r>
            <a:br/>
            <a:r>
              <a:t>labeled radar signatures</a:t>
            </a:r>
            <a:br/>
            <a:r>
              <a:t>Shape + Doppler fusion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19" y="4663440"/>
            <a:ext cx="2560320" cy="4572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59" y="46817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1B2F"/>
                </a:solidFill>
                <a:latin typeface="Calibri"/>
              </a:defRPr>
            </a:pPr>
            <a:r>
              <a:t>4.  Alert</a:t>
            </a:r>
            <a:br/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5212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🟢 Green: Clear</a:t>
            </a:r>
            <a:br/>
            <a:r>
              <a:t>🟠 Amber: Ambiguous</a:t>
            </a:r>
            <a:br/>
            <a:r>
              <a:t>🔴 Red: Live animal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Technical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2A3A5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SNR for cold-blooded animals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Longer integration (5–15 s), higher-gain antenna arrays, matched filtering for respiratory waveforms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Metallic baggage lining (full reflection)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Secondary X-ray check + flag metallic contents — detection impossible through foil-lined bags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Conveyor motion clutter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Stationary radar geometry + Doppler clutter filtering removes constant-velocity belt motion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False positives (vibrating electronics, loose items)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Spectral pattern analysis + ML classifier to distinguish physiological (variable) from mechanical (single-frequency) motion</a:t>
                      </a:r>
                    </a:p>
                  </a:txBody>
                  <a:tcPr>
                    <a:solidFill>
                      <a:srgbClr val="242E4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Throughput constraints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 FMCW chirp rates + parallel beamforming → &lt; 5 s per bag dwell time</a:t>
                      </a:r>
                    </a:p>
                  </a:txBody>
                  <a:tcPr>
                    <a:solidFill>
                      <a:srgbClr val="1E26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Feasibility &amp; Supporting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Calibri"/>
              </a:defRPr>
            </a:pPr>
            <a:r>
              <a:t>🏥  Remote Vital Sign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Multiple peer-reviewed studies demonstrate mmWave detection of human heartbeat and respiration through clothing and blankets at 1–3 m (60–77 GHz FMCW). Same principles apply to animals. TI provides a production-ready vital signs demo with IWR6843.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73152" cy="137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Calibri"/>
              </a:defRPr>
            </a:pPr>
            <a:r>
              <a:t>🛂  Security Screening (Deployed)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MIMO mmWave body scanners for concealed object detection already deployed at airports (e.g., Rohde &amp; Schwarz QPS systems at 70–80 GHz). Bag-screening adaptation is a straightforward extension.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73152" cy="137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Calibri"/>
              </a:defRPr>
            </a:pPr>
            <a:r>
              <a:t>🛟  Search &amp; Rescue Life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Lower-frequency Doppler radar is field-proven for detecting breathing survivors under rubble. mmWave brings higher spatial resolution appropriate for baggage-scale screening.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Calibri"/>
              </a:defRPr>
            </a:pPr>
            <a:r>
              <a:t>Suggested Development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2F"/>
                </a:solidFill>
                <a:latin typeface="Calibri"/>
              </a:defRPr>
            </a:pPr>
            <a:r>
              <a:t>From benchtop to field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16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560320" cy="5029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1B2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1B2F"/>
                </a:solidFill>
                <a:latin typeface="Calibri"/>
              </a:defRPr>
            </a:pPr>
            <a:r>
              <a:t>Benchtop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 IWR6843ISK ($299)</a:t>
            </a:r>
            <a:br/>
            <a:r>
              <a:t>Built-in vital sign demo</a:t>
            </a:r>
            <a:br/>
            <a:r>
              <a:t>Test: respiration detection</a:t>
            </a:r>
            <a:br/>
            <a:r>
              <a:t>through fabric, plastic,</a:t>
            </a:r>
            <a:br/>
            <a:r>
              <a:t>cardboard at 0.5–2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560320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89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1B2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1B2F"/>
                </a:solidFill>
                <a:latin typeface="Calibri"/>
              </a:defRPr>
            </a:pPr>
            <a:r>
              <a:t>Custom MIMO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031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(If higher 3D resolution</a:t>
            </a:r>
            <a:br/>
            <a:r>
              <a:t>is required)</a:t>
            </a:r>
            <a:br/>
            <a:r>
              <a:t>Cascade multiple IWR6843</a:t>
            </a:r>
            <a:br/>
            <a:r>
              <a:t>units or engage Vayyar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371600"/>
            <a:ext cx="2560320" cy="5029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1389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1B2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1B2F"/>
                </a:solidFill>
                <a:latin typeface="Calibri"/>
              </a:defRPr>
            </a:pPr>
            <a:r>
              <a:t>ML Dataset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1031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Labeled recordings of:</a:t>
            </a:r>
            <a:br/>
            <a:r>
              <a:t>• Live animals</a:t>
            </a:r>
            <a:br/>
            <a:r>
              <a:t>• Inert objects</a:t>
            </a:r>
            <a:br/>
            <a:r>
              <a:t>• Various concealment</a:t>
            </a:r>
            <a:br/>
            <a:r>
              <a:t> 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19" y="1371600"/>
            <a:ext cx="2560320" cy="5029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13898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1B2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1627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1B2F"/>
                </a:solidFill>
                <a:latin typeface="Calibri"/>
              </a:defRPr>
            </a:pPr>
            <a:r>
              <a:t>Field 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1031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Controlled checkpoint</a:t>
            </a:r>
            <a:br/>
            <a:r>
              <a:t>Measure:</a:t>
            </a:r>
            <a:br/>
            <a:r>
              <a:t>• Pd (detection probability)</a:t>
            </a:r>
            <a:br/>
            <a:r>
              <a:t>• Pfa (false alarm rate)</a:t>
            </a:r>
            <a:br/>
            <a:r>
              <a:t>Iterate &amp;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